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7"/>
    <p:sldId id="268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8768" y="1041019"/>
            <a:ext cx="3634740" cy="953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66791" y="1399666"/>
            <a:ext cx="6261100" cy="3764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42997" y="1655775"/>
            <a:ext cx="6906259" cy="176339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611630" marR="5080" indent="-1599565">
              <a:lnSpc>
                <a:spcPts val="6480"/>
              </a:lnSpc>
              <a:spcBef>
                <a:spcPts val="915"/>
              </a:spcBef>
            </a:pPr>
            <a:r>
              <a:rPr sz="6000" spc="-35" dirty="0"/>
              <a:t>STOCKFISH</a:t>
            </a:r>
            <a:r>
              <a:rPr sz="6000" spc="-650" dirty="0"/>
              <a:t> </a:t>
            </a:r>
            <a:r>
              <a:rPr sz="6000" spc="-40" dirty="0"/>
              <a:t>VE</a:t>
            </a:r>
            <a:r>
              <a:rPr sz="6000" spc="-650" dirty="0"/>
              <a:t> </a:t>
            </a:r>
            <a:r>
              <a:rPr sz="6000" spc="-204" dirty="0"/>
              <a:t>FAİRY-</a:t>
            </a:r>
            <a:r>
              <a:rPr sz="6000" spc="-10" dirty="0"/>
              <a:t>STOCKFİSH</a:t>
            </a:r>
            <a:endParaRPr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8768" y="1041019"/>
            <a:ext cx="2008505" cy="953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5"/>
              </a:spcBef>
            </a:pPr>
            <a:r>
              <a:rPr spc="-110" dirty="0"/>
              <a:t>Stockfish</a:t>
            </a:r>
            <a:r>
              <a:rPr spc="-295" dirty="0"/>
              <a:t> </a:t>
            </a:r>
            <a:r>
              <a:rPr spc="-110" dirty="0"/>
              <a:t>ve</a:t>
            </a:r>
          </a:p>
          <a:p>
            <a:pPr marL="12700">
              <a:lnSpc>
                <a:spcPts val="3650"/>
              </a:lnSpc>
            </a:pPr>
            <a:r>
              <a:rPr spc="-100" dirty="0"/>
              <a:t>kavramları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8768" y="2034667"/>
            <a:ext cx="3734435" cy="357695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163195">
              <a:lnSpc>
                <a:spcPct val="80000"/>
              </a:lnSpc>
              <a:spcBef>
                <a:spcPts val="480"/>
              </a:spcBef>
            </a:pPr>
            <a:r>
              <a:rPr sz="1600" b="1" spc="-10" dirty="0">
                <a:latin typeface="Trebuchet MS"/>
                <a:cs typeface="Trebuchet MS"/>
              </a:rPr>
              <a:t>Stockfish:</a:t>
            </a:r>
            <a:r>
              <a:rPr sz="1600" b="1" spc="-125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Kendi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45" dirty="0" err="1">
                <a:latin typeface="Trebuchet MS"/>
                <a:cs typeface="Trebuchet MS"/>
              </a:rPr>
              <a:t>arayüzü</a:t>
            </a:r>
            <a:r>
              <a:rPr sz="1600" spc="-95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(GUI)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olmayan</a:t>
            </a:r>
            <a:r>
              <a:rPr sz="1600" spc="-10" dirty="0">
                <a:latin typeface="Trebuchet MS"/>
                <a:cs typeface="Trebuchet MS"/>
              </a:rPr>
              <a:t>, </a:t>
            </a:r>
            <a:r>
              <a:rPr sz="1600" spc="-40" dirty="0" err="1">
                <a:latin typeface="Trebuchet MS"/>
                <a:cs typeface="Trebuchet MS"/>
              </a:rPr>
              <a:t>arka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planda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45" dirty="0" err="1">
                <a:latin typeface="Trebuchet MS"/>
                <a:cs typeface="Trebuchet MS"/>
              </a:rPr>
              <a:t>milyarlarca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ihtimali</a:t>
            </a:r>
            <a:r>
              <a:rPr sz="1600" spc="-10" dirty="0">
                <a:latin typeface="Trebuchet MS"/>
                <a:cs typeface="Trebuchet MS"/>
              </a:rPr>
              <a:t> </a:t>
            </a:r>
            <a:r>
              <a:rPr sz="1600" spc="-25" dirty="0" err="1">
                <a:latin typeface="Trebuchet MS"/>
                <a:cs typeface="Trebuchet MS"/>
              </a:rPr>
              <a:t>hesaplayarak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optimum</a:t>
            </a:r>
            <a:r>
              <a:rPr sz="1600" spc="-55" dirty="0">
                <a:latin typeface="Trebuchet MS"/>
                <a:cs typeface="Trebuchet MS"/>
              </a:rPr>
              <a:t> </a:t>
            </a:r>
            <a:r>
              <a:rPr sz="1600" spc="-70" dirty="0" err="1">
                <a:latin typeface="Trebuchet MS"/>
                <a:cs typeface="Trebuchet MS"/>
              </a:rPr>
              <a:t>kararı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(</a:t>
            </a:r>
            <a:r>
              <a:rPr sz="1600" spc="-10" dirty="0" err="1">
                <a:latin typeface="Trebuchet MS"/>
                <a:cs typeface="Trebuchet MS"/>
              </a:rPr>
              <a:t>hamleyi</a:t>
            </a:r>
            <a:r>
              <a:rPr sz="1600" spc="-10" dirty="0">
                <a:latin typeface="Trebuchet MS"/>
                <a:cs typeface="Trebuchet MS"/>
              </a:rPr>
              <a:t>) </a:t>
            </a:r>
            <a:r>
              <a:rPr sz="1600" spc="-20" dirty="0" err="1">
                <a:latin typeface="Trebuchet MS"/>
                <a:cs typeface="Trebuchet MS"/>
              </a:rPr>
              <a:t>bulan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35" dirty="0" err="1">
                <a:latin typeface="Trebuchet MS"/>
                <a:cs typeface="Trebuchet MS"/>
              </a:rPr>
              <a:t>yapay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50" dirty="0" err="1">
                <a:latin typeface="Trebuchet MS"/>
                <a:cs typeface="Trebuchet MS"/>
              </a:rPr>
              <a:t>zeka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algoritması</a:t>
            </a:r>
            <a:r>
              <a:rPr sz="1600" spc="-10" dirty="0">
                <a:latin typeface="Trebuchet MS"/>
                <a:cs typeface="Trebuchet MS"/>
              </a:rPr>
              <a:t>.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ts val="1730"/>
              </a:lnSpc>
              <a:spcBef>
                <a:spcPts val="610"/>
              </a:spcBef>
            </a:pPr>
            <a:r>
              <a:rPr sz="1600" b="1" spc="55" dirty="0">
                <a:latin typeface="Trebuchet MS"/>
                <a:cs typeface="Trebuchet MS"/>
              </a:rPr>
              <a:t>UCI</a:t>
            </a:r>
            <a:r>
              <a:rPr sz="1600" b="1" spc="-135" dirty="0">
                <a:latin typeface="Trebuchet MS"/>
                <a:cs typeface="Trebuchet MS"/>
              </a:rPr>
              <a:t> </a:t>
            </a:r>
            <a:r>
              <a:rPr sz="1600" b="1" spc="-30" dirty="0">
                <a:latin typeface="Trebuchet MS"/>
                <a:cs typeface="Trebuchet MS"/>
              </a:rPr>
              <a:t>(Universal</a:t>
            </a:r>
            <a:r>
              <a:rPr sz="1600" b="1" spc="-145" dirty="0">
                <a:latin typeface="Trebuchet MS"/>
                <a:cs typeface="Trebuchet MS"/>
              </a:rPr>
              <a:t> </a:t>
            </a:r>
            <a:r>
              <a:rPr sz="1600" b="1" spc="65" dirty="0">
                <a:latin typeface="Trebuchet MS"/>
                <a:cs typeface="Trebuchet MS"/>
              </a:rPr>
              <a:t>Chess</a:t>
            </a:r>
            <a:r>
              <a:rPr sz="1600" b="1" spc="-13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Interface):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ts val="1535"/>
              </a:lnSpc>
            </a:pPr>
            <a:r>
              <a:rPr sz="1600" spc="-10" dirty="0">
                <a:latin typeface="Trebuchet MS"/>
                <a:cs typeface="Trebuchet MS"/>
              </a:rPr>
              <a:t>Stockfish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70" dirty="0" err="1">
                <a:latin typeface="Trebuchet MS"/>
                <a:cs typeface="Trebuchet MS"/>
              </a:rPr>
              <a:t>ile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Python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55" dirty="0" err="1">
                <a:latin typeface="Trebuchet MS"/>
                <a:cs typeface="Trebuchet MS"/>
              </a:rPr>
              <a:t>veya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-40" dirty="0" err="1">
                <a:latin typeface="Trebuchet MS"/>
                <a:cs typeface="Trebuchet MS"/>
              </a:rPr>
              <a:t>harici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herhangi</a:t>
            </a:r>
            <a:endParaRPr sz="1600" dirty="0">
              <a:latin typeface="Trebuchet MS"/>
              <a:cs typeface="Trebuchet MS"/>
            </a:endParaRPr>
          </a:p>
          <a:p>
            <a:pPr marL="12700" marR="5080">
              <a:lnSpc>
                <a:spcPts val="1540"/>
              </a:lnSpc>
              <a:spcBef>
                <a:spcPts val="175"/>
              </a:spcBef>
            </a:pPr>
            <a:r>
              <a:rPr sz="1600" spc="-65" dirty="0" err="1">
                <a:latin typeface="Trebuchet MS"/>
                <a:cs typeface="Trebuchet MS"/>
              </a:rPr>
              <a:t>bir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dirty="0" err="1">
                <a:latin typeface="Trebuchet MS"/>
                <a:cs typeface="Trebuchet MS"/>
              </a:rPr>
              <a:t>sistem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20" dirty="0" err="1">
                <a:latin typeface="Trebuchet MS"/>
                <a:cs typeface="Trebuchet MS"/>
              </a:rPr>
              <a:t>arasında</a:t>
            </a:r>
            <a:r>
              <a:rPr sz="1600" spc="-75" dirty="0">
                <a:latin typeface="Trebuchet MS"/>
                <a:cs typeface="Trebuchet MS"/>
              </a:rPr>
              <a:t> </a:t>
            </a:r>
            <a:r>
              <a:rPr sz="1600" spc="-35" dirty="0" err="1">
                <a:latin typeface="Trebuchet MS"/>
                <a:cs typeface="Trebuchet MS"/>
              </a:rPr>
              <a:t>haberleşmeyi</a:t>
            </a:r>
            <a:r>
              <a:rPr sz="1600" spc="-95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sağlayan</a:t>
            </a:r>
            <a:r>
              <a:rPr sz="1600" spc="-10" dirty="0">
                <a:latin typeface="Trebuchet MS"/>
                <a:cs typeface="Trebuchet MS"/>
              </a:rPr>
              <a:t> </a:t>
            </a:r>
            <a:r>
              <a:rPr sz="1600" spc="-40" dirty="0" err="1">
                <a:latin typeface="Trebuchet MS"/>
                <a:cs typeface="Trebuchet MS"/>
              </a:rPr>
              <a:t>evrensel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50" dirty="0" err="1">
                <a:latin typeface="Trebuchet MS"/>
                <a:cs typeface="Trebuchet MS"/>
              </a:rPr>
              <a:t>iletişim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protokolü</a:t>
            </a:r>
            <a:r>
              <a:rPr sz="1600" spc="-10" dirty="0">
                <a:latin typeface="Trebuchet MS"/>
                <a:cs typeface="Trebuchet MS"/>
              </a:rPr>
              <a:t>.</a:t>
            </a:r>
            <a:endParaRPr sz="1600" dirty="0">
              <a:latin typeface="Trebuchet MS"/>
              <a:cs typeface="Trebuchet MS"/>
            </a:endParaRPr>
          </a:p>
          <a:p>
            <a:pPr marL="12700" marR="133350">
              <a:lnSpc>
                <a:spcPts val="1540"/>
              </a:lnSpc>
              <a:spcBef>
                <a:spcPts val="1000"/>
              </a:spcBef>
            </a:pPr>
            <a:r>
              <a:rPr sz="1600" b="1" spc="-35" dirty="0">
                <a:latin typeface="Trebuchet MS"/>
                <a:cs typeface="Trebuchet MS"/>
              </a:rPr>
              <a:t>FEN:</a:t>
            </a:r>
            <a:r>
              <a:rPr sz="1600" b="1" spc="-130" dirty="0">
                <a:latin typeface="Trebuchet MS"/>
                <a:cs typeface="Trebuchet MS"/>
              </a:rPr>
              <a:t> </a:t>
            </a:r>
            <a:r>
              <a:rPr sz="1600" spc="-75" dirty="0" err="1">
                <a:latin typeface="Trebuchet MS"/>
                <a:cs typeface="Trebuchet MS"/>
              </a:rPr>
              <a:t>Tahtanın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50" dirty="0" err="1">
                <a:latin typeface="Trebuchet MS"/>
                <a:cs typeface="Trebuchet MS"/>
              </a:rPr>
              <a:t>anlık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dirty="0" err="1">
                <a:latin typeface="Trebuchet MS"/>
                <a:cs typeface="Trebuchet MS"/>
              </a:rPr>
              <a:t>durumunu</a:t>
            </a:r>
            <a:r>
              <a:rPr sz="1600" spc="-55" dirty="0">
                <a:latin typeface="Trebuchet MS"/>
                <a:cs typeface="Trebuchet MS"/>
              </a:rPr>
              <a:t> </a:t>
            </a:r>
            <a:r>
              <a:rPr sz="1600" spc="-25" dirty="0" err="1">
                <a:latin typeface="Trebuchet MS"/>
                <a:cs typeface="Trebuchet MS"/>
              </a:rPr>
              <a:t>büyük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45" dirty="0" err="1">
                <a:latin typeface="Trebuchet MS"/>
                <a:cs typeface="Trebuchet MS"/>
              </a:rPr>
              <a:t>veri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spc="-60" dirty="0" err="1">
                <a:latin typeface="Trebuchet MS"/>
                <a:cs typeface="Trebuchet MS"/>
              </a:rPr>
              <a:t>paketleri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85" dirty="0" err="1">
                <a:latin typeface="Trebuchet MS"/>
                <a:cs typeface="Trebuchet MS"/>
              </a:rPr>
              <a:t>yerine</a:t>
            </a:r>
            <a:r>
              <a:rPr sz="1600" spc="-85" dirty="0">
                <a:latin typeface="Trebuchet MS"/>
                <a:cs typeface="Trebuchet MS"/>
              </a:rPr>
              <a:t>, </a:t>
            </a:r>
            <a:r>
              <a:rPr sz="1600" spc="-20" dirty="0" err="1">
                <a:latin typeface="Trebuchet MS"/>
                <a:cs typeface="Trebuchet MS"/>
              </a:rPr>
              <a:t>sistemi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35" dirty="0" err="1">
                <a:latin typeface="Trebuchet MS"/>
                <a:cs typeface="Trebuchet MS"/>
              </a:rPr>
              <a:t>yormayan</a:t>
            </a:r>
            <a:r>
              <a:rPr sz="1600" spc="-75" dirty="0">
                <a:latin typeface="Trebuchet MS"/>
                <a:cs typeface="Trebuchet MS"/>
              </a:rPr>
              <a:t> </a:t>
            </a:r>
            <a:r>
              <a:rPr sz="1600" spc="-25" dirty="0" err="1">
                <a:latin typeface="Trebuchet MS"/>
                <a:cs typeface="Trebuchet MS"/>
              </a:rPr>
              <a:t>tek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55" dirty="0" err="1">
                <a:latin typeface="Trebuchet MS"/>
                <a:cs typeface="Trebuchet MS"/>
              </a:rPr>
              <a:t>satırlık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65" dirty="0" err="1">
                <a:latin typeface="Trebuchet MS"/>
                <a:cs typeface="Trebuchet MS"/>
              </a:rPr>
              <a:t>bir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string</a:t>
            </a:r>
            <a:r>
              <a:rPr sz="1600" spc="-95" dirty="0">
                <a:latin typeface="Trebuchet MS"/>
                <a:cs typeface="Trebuchet MS"/>
              </a:rPr>
              <a:t> </a:t>
            </a:r>
            <a:r>
              <a:rPr sz="1600" spc="-60" dirty="0" err="1">
                <a:latin typeface="Trebuchet MS"/>
                <a:cs typeface="Trebuchet MS"/>
              </a:rPr>
              <a:t>değeri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45" dirty="0" err="1">
                <a:latin typeface="Trebuchet MS"/>
                <a:cs typeface="Trebuchet MS"/>
              </a:rPr>
              <a:t>olarak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ileten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ts val="1540"/>
              </a:lnSpc>
            </a:pPr>
            <a:r>
              <a:rPr sz="1600" spc="-45" dirty="0" err="1">
                <a:latin typeface="Trebuchet MS"/>
                <a:cs typeface="Trebuchet MS"/>
              </a:rPr>
              <a:t>şifreleme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yapısı</a:t>
            </a:r>
            <a:r>
              <a:rPr sz="1600" spc="-10" dirty="0">
                <a:latin typeface="Trebuchet MS"/>
                <a:cs typeface="Trebuchet MS"/>
              </a:rPr>
              <a:t>.</a:t>
            </a:r>
            <a:endParaRPr sz="1600" dirty="0">
              <a:latin typeface="Trebuchet MS"/>
              <a:cs typeface="Trebuchet MS"/>
            </a:endParaRPr>
          </a:p>
          <a:p>
            <a:pPr marL="12700" marR="311785">
              <a:lnSpc>
                <a:spcPts val="1540"/>
              </a:lnSpc>
              <a:spcBef>
                <a:spcPts val="985"/>
              </a:spcBef>
            </a:pPr>
            <a:r>
              <a:rPr sz="1600" b="1" spc="-30" dirty="0">
                <a:latin typeface="Trebuchet MS"/>
                <a:cs typeface="Trebuchet MS"/>
              </a:rPr>
              <a:t>DEPTH:</a:t>
            </a:r>
            <a:r>
              <a:rPr sz="1600" b="1" spc="-120" dirty="0">
                <a:latin typeface="Trebuchet MS"/>
                <a:cs typeface="Trebuchet MS"/>
              </a:rPr>
              <a:t> </a:t>
            </a:r>
            <a:r>
              <a:rPr sz="1600" spc="-50" dirty="0" err="1">
                <a:latin typeface="Trebuchet MS"/>
                <a:cs typeface="Trebuchet MS"/>
              </a:rPr>
              <a:t>Algoritmanın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kaç</a:t>
            </a:r>
            <a:r>
              <a:rPr sz="1600" spc="-150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adım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(</a:t>
            </a:r>
            <a:r>
              <a:rPr sz="1600" spc="-25" dirty="0" err="1">
                <a:latin typeface="Trebuchet MS"/>
                <a:cs typeface="Trebuchet MS"/>
              </a:rPr>
              <a:t>hamle</a:t>
            </a:r>
            <a:r>
              <a:rPr sz="1600" spc="-25" dirty="0">
                <a:latin typeface="Trebuchet MS"/>
                <a:cs typeface="Trebuchet MS"/>
              </a:rPr>
              <a:t>) </a:t>
            </a:r>
            <a:r>
              <a:rPr sz="1600" spc="-10" dirty="0" err="1">
                <a:latin typeface="Trebuchet MS"/>
                <a:cs typeface="Trebuchet MS"/>
              </a:rPr>
              <a:t>sonrasını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20" dirty="0" err="1">
                <a:latin typeface="Trebuchet MS"/>
                <a:cs typeface="Trebuchet MS"/>
              </a:rPr>
              <a:t>hesaplayacağını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70" dirty="0" err="1">
                <a:latin typeface="Trebuchet MS"/>
                <a:cs typeface="Trebuchet MS"/>
              </a:rPr>
              <a:t>ve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arama</a:t>
            </a:r>
            <a:endParaRPr sz="1600" dirty="0">
              <a:latin typeface="Trebuchet MS"/>
              <a:cs typeface="Trebuchet MS"/>
            </a:endParaRPr>
          </a:p>
          <a:p>
            <a:pPr marL="12700" marR="688340">
              <a:lnSpc>
                <a:spcPct val="80000"/>
              </a:lnSpc>
              <a:spcBef>
                <a:spcPts val="10"/>
              </a:spcBef>
            </a:pPr>
            <a:r>
              <a:rPr sz="1600" spc="-10" dirty="0" err="1">
                <a:latin typeface="Trebuchet MS"/>
                <a:cs typeface="Trebuchet MS"/>
              </a:rPr>
              <a:t>ağacında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ne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30" dirty="0" err="1">
                <a:latin typeface="Trebuchet MS"/>
                <a:cs typeface="Trebuchet MS"/>
              </a:rPr>
              <a:t>kadar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45" dirty="0" err="1">
                <a:latin typeface="Trebuchet MS"/>
                <a:cs typeface="Trebuchet MS"/>
              </a:rPr>
              <a:t>derine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40" dirty="0" err="1">
                <a:latin typeface="Trebuchet MS"/>
                <a:cs typeface="Trebuchet MS"/>
              </a:rPr>
              <a:t>ineceğini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55" dirty="0" err="1">
                <a:latin typeface="Trebuchet MS"/>
                <a:cs typeface="Trebuchet MS"/>
              </a:rPr>
              <a:t>belirlediğimiz</a:t>
            </a:r>
            <a:r>
              <a:rPr sz="1600" spc="-75" dirty="0">
                <a:latin typeface="Trebuchet MS"/>
                <a:cs typeface="Trebuchet MS"/>
              </a:rPr>
              <a:t> </a:t>
            </a:r>
            <a:r>
              <a:rPr sz="1600" spc="-35" dirty="0" err="1">
                <a:latin typeface="Trebuchet MS"/>
                <a:cs typeface="Trebuchet MS"/>
              </a:rPr>
              <a:t>sınır</a:t>
            </a:r>
            <a:r>
              <a:rPr sz="1600" spc="-75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parametresi</a:t>
            </a:r>
            <a:r>
              <a:rPr sz="1600" spc="-10" dirty="0">
                <a:latin typeface="Trebuchet MS"/>
                <a:cs typeface="Trebuchet MS"/>
              </a:rPr>
              <a:t>.</a:t>
            </a:r>
            <a:endParaRPr sz="1600" dirty="0">
              <a:latin typeface="Trebuchet MS"/>
              <a:cs typeface="Trebuchet MS"/>
            </a:endParaRPr>
          </a:p>
        </p:txBody>
      </p:sp>
      <p:pic>
        <p:nvPicPr>
          <p:cNvPr id="4" name="object 4" descr="Stockfish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2848" y="1060626"/>
            <a:ext cx="4268783" cy="4491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8768" y="601421"/>
            <a:ext cx="3404870" cy="139255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90"/>
              </a:spcBef>
            </a:pPr>
            <a:r>
              <a:rPr spc="-110" dirty="0"/>
              <a:t>Stockfish</a:t>
            </a:r>
            <a:r>
              <a:rPr spc="-305" dirty="0"/>
              <a:t> </a:t>
            </a:r>
            <a:r>
              <a:rPr spc="-10" dirty="0"/>
              <a:t>çalışma </a:t>
            </a:r>
            <a:r>
              <a:rPr spc="-215" dirty="0"/>
              <a:t>mantığı</a:t>
            </a:r>
            <a:r>
              <a:rPr spc="-315" dirty="0"/>
              <a:t> </a:t>
            </a:r>
            <a:r>
              <a:rPr spc="-390" dirty="0"/>
              <a:t>,</a:t>
            </a:r>
            <a:r>
              <a:rPr spc="-330" dirty="0"/>
              <a:t> </a:t>
            </a:r>
            <a:r>
              <a:rPr spc="-225" dirty="0"/>
              <a:t>karar</a:t>
            </a:r>
            <a:r>
              <a:rPr spc="-330" dirty="0"/>
              <a:t> </a:t>
            </a:r>
            <a:r>
              <a:rPr spc="-160" dirty="0"/>
              <a:t>verme </a:t>
            </a:r>
            <a:r>
              <a:rPr spc="-120" dirty="0"/>
              <a:t>mekanizmaları.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8768" y="2052954"/>
            <a:ext cx="3701415" cy="2991203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lvl="0"/>
            <a:r>
              <a:rPr lang="tr-TR" sz="1600" b="1" dirty="0" err="1"/>
              <a:t>Minimax</a:t>
            </a:r>
            <a:r>
              <a:rPr lang="tr-TR" sz="1600" b="1" dirty="0"/>
              <a:t> Algoritması:</a:t>
            </a:r>
            <a:r>
              <a:rPr lang="tr-TR" sz="1600" dirty="0"/>
              <a:t> Sistemimizin kazancını maksimize edip, kayıplarını minimize edecek senaryoları (şah güvenliği, taş avantajı vb. parametrelerle) arayan temel karar ağacı. </a:t>
            </a:r>
          </a:p>
          <a:p>
            <a:pPr lvl="0"/>
            <a:r>
              <a:rPr lang="tr-TR" sz="1600" b="1" dirty="0"/>
              <a:t>Alpha-Beta Budaması (Optimizasyon Filtresi):</a:t>
            </a:r>
            <a:r>
              <a:rPr lang="tr-TR" sz="1600" dirty="0"/>
              <a:t> Milyarlarca ihtimalin işlemciyi kilitlemesini (</a:t>
            </a:r>
            <a:r>
              <a:rPr lang="tr-TR" sz="1600" dirty="0" err="1"/>
              <a:t>deadlock</a:t>
            </a:r>
            <a:r>
              <a:rPr lang="tr-TR" sz="1600" dirty="0"/>
              <a:t>) önleyen filtreleme yöntemi. Motor, mantıksız bir rotayla karşılaştığında o ihtimal dalını "budar" ve işlemciyi sadece verimli rotalara odaklar.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22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FAIRY-</a:t>
            </a:r>
            <a:r>
              <a:rPr spc="-10" dirty="0"/>
              <a:t>STOCKFİSH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04891" y="1399666"/>
          <a:ext cx="6172200" cy="3764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sz="7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Varyant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ct val="100000"/>
                        </a:lnSpc>
                      </a:pPr>
                      <a:r>
                        <a:rPr sz="7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Tahta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ct val="100000"/>
                        </a:lnSpc>
                      </a:pPr>
                      <a:r>
                        <a:rPr sz="7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Temel</a:t>
                      </a:r>
                      <a:r>
                        <a:rPr sz="700" b="1" spc="-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fark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ct val="100000"/>
                        </a:lnSpc>
                      </a:pPr>
                      <a:r>
                        <a:rPr sz="7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Motor</a:t>
                      </a:r>
                      <a:r>
                        <a:rPr sz="7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davranışı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085"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700" b="1" spc="-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Fairy -</a:t>
                      </a:r>
                      <a:r>
                        <a:rPr sz="700" b="1" spc="-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Amazon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700" spc="-10" dirty="0">
                          <a:latin typeface="Trebuchet MS"/>
                          <a:cs typeface="Trebuchet MS"/>
                        </a:rPr>
                        <a:t>Normal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700" spc="-45" dirty="0">
                          <a:latin typeface="Trebuchet MS"/>
                          <a:cs typeface="Trebuchet MS"/>
                        </a:rPr>
                        <a:t>Vezir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 at</a:t>
                      </a:r>
                      <a:r>
                        <a:rPr sz="7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gibi</a:t>
                      </a:r>
                      <a:r>
                        <a:rPr sz="7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hareket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edebiliyor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700" spc="-10" dirty="0">
                          <a:latin typeface="Trebuchet MS"/>
                          <a:cs typeface="Trebuchet MS"/>
                        </a:rPr>
                        <a:t>Normal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98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Shogi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25" dirty="0">
                          <a:latin typeface="Trebuchet MS"/>
                          <a:cs typeface="Trebuchet MS"/>
                        </a:rPr>
                        <a:t>3*4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25" dirty="0">
                          <a:latin typeface="Trebuchet MS"/>
                          <a:cs typeface="Trebuchet MS"/>
                        </a:rPr>
                        <a:t>Tamamen</a:t>
                      </a:r>
                      <a:r>
                        <a:rPr sz="7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farklı</a:t>
                      </a:r>
                      <a:r>
                        <a:rPr sz="7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Serbest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'Drop'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ve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  <a:p>
                      <a:pPr marL="6350" marR="53340">
                        <a:lnSpc>
                          <a:spcPct val="114900"/>
                        </a:lnSpc>
                        <a:spcBef>
                          <a:spcPts val="5"/>
                        </a:spcBef>
                      </a:pPr>
                      <a:r>
                        <a:rPr sz="700" spc="-25" dirty="0">
                          <a:latin typeface="Trebuchet MS"/>
                          <a:cs typeface="Trebuchet MS"/>
                        </a:rPr>
                        <a:t>Hedefe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Ulaşma: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Ölü</a:t>
                      </a:r>
                      <a:r>
                        <a:rPr sz="7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taşlar,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şogideki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yasakların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(anında</a:t>
                      </a:r>
                      <a:r>
                        <a:rPr sz="7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mat 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etme,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çift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civciv </a:t>
                      </a:r>
                      <a:r>
                        <a:rPr sz="700" spc="-50" dirty="0">
                          <a:latin typeface="Trebuchet MS"/>
                          <a:cs typeface="Trebuchet MS"/>
                        </a:rPr>
                        <a:t>vb.)</a:t>
                      </a:r>
                      <a:r>
                        <a:rPr sz="7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aksine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hiçbir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kısıtlama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olmadan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sahaya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 sürülebilir.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 Şahı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(Aslan)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güvenli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bir</a:t>
                      </a:r>
                      <a:r>
                        <a:rPr sz="7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şekilde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son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satıra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taşımak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oyunu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 kazandırır.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 marR="76835">
                        <a:lnSpc>
                          <a:spcPct val="115199"/>
                        </a:lnSpc>
                      </a:pPr>
                      <a:r>
                        <a:rPr sz="700" spc="-40" dirty="0">
                          <a:latin typeface="Trebuchet MS"/>
                          <a:cs typeface="Trebuchet MS"/>
                        </a:rPr>
                        <a:t>Motor,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"Şah</a:t>
                      </a:r>
                      <a:r>
                        <a:rPr sz="7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Güvenliği"</a:t>
                      </a:r>
                      <a:r>
                        <a:rPr sz="7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(King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Safety)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matematiğini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tamamen</a:t>
                      </a:r>
                      <a:r>
                        <a:rPr sz="700" spc="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tersine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çevirir.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 Klasik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satrançta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Şahı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köşede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saklayıp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defansif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skor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üreten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algoritma,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burada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Şahı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bir</a:t>
                      </a:r>
                      <a:r>
                        <a:rPr sz="7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atak</a:t>
                      </a:r>
                      <a:r>
                        <a:rPr sz="7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taşı</a:t>
                      </a:r>
                      <a:r>
                        <a:rPr sz="7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gibi</a:t>
                      </a:r>
                      <a:r>
                        <a:rPr sz="7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kullanıp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hedef</a:t>
                      </a:r>
                      <a:r>
                        <a:rPr sz="700" spc="5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satıra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ulaştırmak</a:t>
                      </a:r>
                      <a:r>
                        <a:rPr sz="7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için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agresif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  <a:p>
                      <a:pPr marL="63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latin typeface="Trebuchet MS"/>
                          <a:cs typeface="Trebuchet MS"/>
                        </a:rPr>
                        <a:t>optimizasyon</a:t>
                      </a:r>
                      <a:r>
                        <a:rPr sz="700" spc="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yapar.</a:t>
                      </a:r>
                      <a:r>
                        <a:rPr sz="7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Kısıtlamasız</a:t>
                      </a:r>
                      <a:r>
                        <a:rPr sz="7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drop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  <a:p>
                      <a:pPr marL="6350" marR="137160">
                        <a:lnSpc>
                          <a:spcPct val="114999"/>
                        </a:lnSpc>
                        <a:spcBef>
                          <a:spcPts val="5"/>
                        </a:spcBef>
                      </a:pPr>
                      <a:r>
                        <a:rPr sz="700" spc="-35" dirty="0">
                          <a:latin typeface="Trebuchet MS"/>
                          <a:cs typeface="Trebuchet MS"/>
                        </a:rPr>
                        <a:t>kuralı</a:t>
                      </a:r>
                      <a:r>
                        <a:rPr sz="7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nedeniyle,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3x4'lük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minicik bir</a:t>
                      </a:r>
                      <a:r>
                        <a:rPr sz="700" spc="5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tahtada</a:t>
                      </a:r>
                      <a:r>
                        <a:rPr sz="7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bile</a:t>
                      </a:r>
                      <a:r>
                        <a:rPr sz="7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arama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ağacı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(branching)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 devasa</a:t>
                      </a:r>
                      <a:r>
                        <a:rPr sz="7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boyutlara</a:t>
                      </a:r>
                      <a:r>
                        <a:rPr sz="7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ulaşır.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0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Xiangqi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20" dirty="0">
                          <a:latin typeface="Trebuchet MS"/>
                          <a:cs typeface="Trebuchet MS"/>
                        </a:rPr>
                        <a:t>9*10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 marR="38735">
                        <a:lnSpc>
                          <a:spcPct val="115700"/>
                        </a:lnSpc>
                      </a:pPr>
                      <a:r>
                        <a:rPr sz="700" spc="-10" dirty="0">
                          <a:latin typeface="Trebuchet MS"/>
                          <a:cs typeface="Trebuchet MS"/>
                        </a:rPr>
                        <a:t>Süper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Taş (Asimetrik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Güç): Bir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taraf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 tam</a:t>
                      </a:r>
                      <a:r>
                        <a:rPr sz="700" spc="5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orduyla</a:t>
                      </a:r>
                      <a:r>
                        <a:rPr sz="700" spc="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başlarken,</a:t>
                      </a:r>
                      <a:r>
                        <a:rPr sz="7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diğer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taraf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  <a:p>
                      <a:pPr marL="63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10" dirty="0">
                          <a:latin typeface="Trebuchet MS"/>
                          <a:cs typeface="Trebuchet MS"/>
                        </a:rPr>
                        <a:t>ordusunun çoğunu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feda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edip</a:t>
                      </a:r>
                      <a:r>
                        <a:rPr sz="7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7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taşın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  <a:p>
                      <a:pPr marL="6350" marR="97790">
                        <a:lnSpc>
                          <a:spcPct val="114300"/>
                        </a:lnSpc>
                        <a:spcBef>
                          <a:spcPts val="10"/>
                        </a:spcBef>
                      </a:pPr>
                      <a:r>
                        <a:rPr sz="700" spc="-35" dirty="0">
                          <a:latin typeface="Trebuchet MS"/>
                          <a:cs typeface="Trebuchet MS"/>
                        </a:rPr>
                        <a:t>(Araba+At+Top)</a:t>
                      </a:r>
                      <a:r>
                        <a:rPr sz="70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gücünü</a:t>
                      </a:r>
                      <a:r>
                        <a:rPr sz="7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birleştiren</a:t>
                      </a:r>
                      <a:r>
                        <a:rPr sz="7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tek</a:t>
                      </a:r>
                      <a:r>
                        <a:rPr sz="700" spc="5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bir</a:t>
                      </a:r>
                      <a:r>
                        <a:rPr sz="7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yenilmez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"Süper</a:t>
                      </a:r>
                      <a:r>
                        <a:rPr sz="7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Taş"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ile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oynar.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 marR="12065">
                        <a:lnSpc>
                          <a:spcPct val="115100"/>
                        </a:lnSpc>
                      </a:pPr>
                      <a:r>
                        <a:rPr sz="700" spc="-10" dirty="0">
                          <a:latin typeface="Trebuchet MS"/>
                          <a:cs typeface="Trebuchet MS"/>
                        </a:rPr>
                        <a:t>Motorun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klasik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"Materyal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Avantaj"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(Taş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 sayma)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matematiği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çöker.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 Sistem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asimetrik</a:t>
                      </a:r>
                      <a:r>
                        <a:rPr sz="7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değerlendirme</a:t>
                      </a:r>
                      <a:r>
                        <a:rPr sz="7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(imbalance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evaluation)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yapmak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zorundadır.</a:t>
                      </a:r>
                      <a:r>
                        <a:rPr sz="7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Süper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 taş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için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sınırsız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mobilite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hesaplanırken,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kalabalık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ordu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için</a:t>
                      </a:r>
                      <a:r>
                        <a:rPr sz="7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alanı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daraltıp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süper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 taşı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"hapsetme/kısıtlama"</a:t>
                      </a:r>
                      <a:r>
                        <a:rPr sz="7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odaklı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arama</a:t>
                      </a:r>
                      <a:r>
                        <a:rPr sz="700" spc="5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ağaçları</a:t>
                      </a:r>
                      <a:r>
                        <a:rPr sz="7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(pruning)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oluşturulur.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88923" y="2153932"/>
            <a:ext cx="3664585" cy="2501967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lvl="0"/>
            <a:r>
              <a:rPr lang="tr-TR" sz="1600" b="1" dirty="0" err="1"/>
              <a:t>Fairy-Stockfish</a:t>
            </a:r>
            <a:r>
              <a:rPr lang="tr-TR" sz="1600" b="1" dirty="0"/>
              <a:t>: </a:t>
            </a:r>
            <a:r>
              <a:rPr lang="tr-TR" sz="1600" dirty="0" err="1"/>
              <a:t>Stockfish'in</a:t>
            </a:r>
            <a:r>
              <a:rPr lang="tr-TR" sz="1600" dirty="0"/>
              <a:t>, standart kurallar dışına çıkabilen ve çoklu varyantları destekleyen özel bir modifikasyonudur. </a:t>
            </a:r>
          </a:p>
          <a:p>
            <a:pPr lvl="0"/>
            <a:r>
              <a:rPr lang="tr-TR" sz="1600" b="1" dirty="0" err="1"/>
              <a:t>Shogi</a:t>
            </a:r>
            <a:r>
              <a:rPr lang="tr-TR" sz="1600" b="1" dirty="0"/>
              <a:t> / </a:t>
            </a:r>
            <a:r>
              <a:rPr lang="tr-TR" sz="1600" b="1" dirty="0" err="1"/>
              <a:t>Xiangqi</a:t>
            </a:r>
            <a:r>
              <a:rPr lang="tr-TR" sz="1600" b="1" dirty="0"/>
              <a:t> Mantığı: </a:t>
            </a:r>
            <a:r>
              <a:rPr lang="tr-TR" sz="1600" dirty="0"/>
              <a:t>Şahı bir atak taşı gibi kullanıp hedef satıra ulaştırmak için agresif optimizasyon yapar veya kalabalık ordu için alanı daraltıp süper taşı kısıtlama odaklı arama ağaçları (</a:t>
            </a:r>
            <a:r>
              <a:rPr lang="tr-TR" sz="1600" dirty="0" err="1"/>
              <a:t>pruning</a:t>
            </a:r>
            <a:r>
              <a:rPr lang="tr-TR" sz="1600" dirty="0"/>
              <a:t>) oluşturur.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2827782"/>
            <a:ext cx="49377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75" dirty="0"/>
              <a:t>BEN</a:t>
            </a:r>
            <a:r>
              <a:rPr sz="4400" spc="-425" dirty="0"/>
              <a:t> </a:t>
            </a:r>
            <a:r>
              <a:rPr sz="4400" dirty="0"/>
              <a:t>NELER</a:t>
            </a:r>
            <a:r>
              <a:rPr sz="4400" spc="-425" dirty="0"/>
              <a:t> </a:t>
            </a:r>
            <a:r>
              <a:rPr sz="4400" spc="-170" dirty="0"/>
              <a:t>YAPTIM</a:t>
            </a:r>
            <a:r>
              <a:rPr sz="4400" spc="-440" dirty="0"/>
              <a:t> </a:t>
            </a:r>
            <a:r>
              <a:rPr sz="4400" spc="465" dirty="0"/>
              <a:t>?</a:t>
            </a:r>
            <a:endParaRPr sz="4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8768" y="601421"/>
            <a:ext cx="2839720" cy="139255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90"/>
              </a:spcBef>
            </a:pPr>
            <a:r>
              <a:rPr spc="-215" dirty="0"/>
              <a:t>Veri</a:t>
            </a:r>
            <a:r>
              <a:rPr spc="-305" dirty="0"/>
              <a:t> </a:t>
            </a:r>
            <a:r>
              <a:rPr spc="-204" dirty="0"/>
              <a:t>Filtreleme</a:t>
            </a:r>
            <a:r>
              <a:rPr spc="-325" dirty="0"/>
              <a:t> </a:t>
            </a:r>
            <a:r>
              <a:rPr spc="-155" dirty="0"/>
              <a:t>ve </a:t>
            </a:r>
            <a:r>
              <a:rPr spc="-10" dirty="0"/>
              <a:t>Durum </a:t>
            </a:r>
            <a:r>
              <a:rPr spc="-90" dirty="0"/>
              <a:t>Değerlendirmesi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0323" y="1773427"/>
            <a:ext cx="5518150" cy="331101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8768" y="2034667"/>
            <a:ext cx="3754754" cy="40010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lvl="0"/>
            <a:r>
              <a:rPr lang="tr-TR" sz="1600" b="1" dirty="0" err="1"/>
              <a:t>Regex</a:t>
            </a:r>
            <a:r>
              <a:rPr lang="tr-TR" sz="1600" b="1" dirty="0"/>
              <a:t> (Düzenli İfadeler - Veri Ayıklama Kuralı):</a:t>
            </a:r>
            <a:r>
              <a:rPr lang="tr-TR" sz="1600" dirty="0"/>
              <a:t> Motorun ürettiği yoğun terminal logları arasından, Python kodumuzla sadece ihtiyacımız olan "</a:t>
            </a:r>
            <a:r>
              <a:rPr lang="tr-TR" sz="1600" dirty="0" err="1"/>
              <a:t>bestmove</a:t>
            </a:r>
            <a:r>
              <a:rPr lang="tr-TR" sz="1600" dirty="0"/>
              <a:t>" ve "</a:t>
            </a:r>
            <a:r>
              <a:rPr lang="tr-TR" sz="1600" dirty="0" err="1"/>
              <a:t>score</a:t>
            </a:r>
            <a:r>
              <a:rPr lang="tr-TR" sz="1600" dirty="0"/>
              <a:t>" verilerini temizledik. </a:t>
            </a:r>
          </a:p>
          <a:p>
            <a:pPr lvl="0"/>
            <a:r>
              <a:rPr lang="tr-TR" sz="1600" b="1" dirty="0" err="1"/>
              <a:t>Sink</a:t>
            </a:r>
            <a:r>
              <a:rPr lang="tr-TR" sz="1600" b="1" dirty="0"/>
              <a:t> </a:t>
            </a:r>
            <a:r>
              <a:rPr lang="tr-TR" sz="1600" b="1" dirty="0" err="1"/>
              <a:t>Node</a:t>
            </a:r>
            <a:r>
              <a:rPr lang="tr-TR" sz="1600" b="1" dirty="0"/>
              <a:t> (Ana Merkez) Benzetmesi:</a:t>
            </a:r>
            <a:r>
              <a:rPr lang="tr-TR" sz="1600" dirty="0"/>
              <a:t> Sahadaki yüzlerce düğümden gelen gürültülü verinin, ana merkezde temizlenerek işlenmesi süreci simüle edildi. </a:t>
            </a:r>
          </a:p>
          <a:p>
            <a:pPr lvl="0"/>
            <a:r>
              <a:rPr lang="tr-TR" sz="1600" b="1" dirty="0"/>
              <a:t>CP (</a:t>
            </a:r>
            <a:r>
              <a:rPr lang="tr-TR" sz="1600" b="1" dirty="0" err="1"/>
              <a:t>Centipawn</a:t>
            </a:r>
            <a:r>
              <a:rPr lang="tr-TR" sz="1600" b="1" dirty="0"/>
              <a:t> - </a:t>
            </a:r>
            <a:r>
              <a:rPr lang="tr-TR" sz="1600" b="1" dirty="0" err="1"/>
              <a:t>Santipiyon</a:t>
            </a:r>
            <a:r>
              <a:rPr lang="tr-TR" sz="1600" b="1" dirty="0"/>
              <a:t>) Skoru:</a:t>
            </a:r>
            <a:r>
              <a:rPr lang="tr-TR" sz="1600" dirty="0"/>
              <a:t> Motorun kararına verdiği matematiksel güvenilirlik notu. Sistemimizde bu değer, </a:t>
            </a:r>
            <a:r>
              <a:rPr lang="tr-TR" sz="1600" b="1" dirty="0"/>
              <a:t>LQI (Link </a:t>
            </a:r>
            <a:r>
              <a:rPr lang="tr-TR" sz="1600" b="1" dirty="0" err="1"/>
              <a:t>Quality</a:t>
            </a:r>
            <a:r>
              <a:rPr lang="tr-TR" sz="1600" b="1" dirty="0"/>
              <a:t> </a:t>
            </a:r>
            <a:r>
              <a:rPr lang="tr-TR" sz="1600" b="1" dirty="0" err="1"/>
              <a:t>Indicator</a:t>
            </a:r>
            <a:r>
              <a:rPr lang="tr-TR" sz="1600" b="1" dirty="0"/>
              <a:t> - Bağlantı Kalite İndeksi)</a:t>
            </a:r>
            <a:r>
              <a:rPr lang="tr-TR" sz="1600" dirty="0"/>
              <a:t> olarak tanımlanarak rotanın otonom güvenlik skoru yapıldı.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8768" y="1041019"/>
            <a:ext cx="3267710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pc="-114" dirty="0"/>
              <a:t>Donanım</a:t>
            </a:r>
            <a:r>
              <a:rPr spc="-290" dirty="0"/>
              <a:t> </a:t>
            </a:r>
            <a:r>
              <a:rPr spc="-185" dirty="0"/>
              <a:t>Kısıtları</a:t>
            </a:r>
            <a:r>
              <a:rPr spc="-290" dirty="0"/>
              <a:t> </a:t>
            </a:r>
            <a:r>
              <a:rPr spc="-95" dirty="0"/>
              <a:t>ve </a:t>
            </a:r>
            <a:r>
              <a:rPr spc="-90" dirty="0"/>
              <a:t>Stres</a:t>
            </a:r>
            <a:r>
              <a:rPr spc="-325" dirty="0"/>
              <a:t> </a:t>
            </a:r>
            <a:r>
              <a:rPr spc="-40" dirty="0"/>
              <a:t>Testi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8479" y="2057400"/>
            <a:ext cx="5143500" cy="10763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8768" y="2052954"/>
            <a:ext cx="3740150" cy="3733073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lvl="0"/>
            <a:r>
              <a:rPr lang="tr-TR" sz="1600" b="1" dirty="0"/>
              <a:t>Donanım Simülasyonu:</a:t>
            </a:r>
            <a:r>
              <a:rPr lang="tr-TR" sz="1600" dirty="0"/>
              <a:t> Sahadaki kısıtlı güce sahip pilli sensörleri simüle etmek için, motorun RAM (</a:t>
            </a:r>
            <a:r>
              <a:rPr lang="tr-TR" sz="1600" dirty="0" err="1"/>
              <a:t>Hash</a:t>
            </a:r>
            <a:r>
              <a:rPr lang="tr-TR" sz="1600" dirty="0"/>
              <a:t>=16MB) ve Çekirdek (</a:t>
            </a:r>
            <a:r>
              <a:rPr lang="tr-TR" sz="1600" dirty="0" err="1"/>
              <a:t>Threads</a:t>
            </a:r>
            <a:r>
              <a:rPr lang="tr-TR" sz="1600" dirty="0"/>
              <a:t>=1) limitleri minimuma çekildi. </a:t>
            </a:r>
          </a:p>
          <a:p>
            <a:pPr lvl="0"/>
            <a:r>
              <a:rPr lang="tr-TR" sz="1600" b="1" dirty="0"/>
              <a:t>NPS (</a:t>
            </a:r>
            <a:r>
              <a:rPr lang="tr-TR" sz="1600" b="1" dirty="0" err="1"/>
              <a:t>Nodes</a:t>
            </a:r>
            <a:r>
              <a:rPr lang="tr-TR" sz="1600" b="1" dirty="0"/>
              <a:t> Per Second - Saniyedeki İşlem Sayısı):</a:t>
            </a:r>
            <a:r>
              <a:rPr lang="tr-TR" sz="1600" dirty="0"/>
              <a:t> Cihazın karar üretme hızını gösteren bu değerin, kısıtlamalar sonucu beklendiği gibi düştüğü loglardan teyit edildi. </a:t>
            </a:r>
          </a:p>
          <a:p>
            <a:pPr lvl="0"/>
            <a:r>
              <a:rPr lang="tr-TR" sz="1600" b="1" dirty="0" err="1"/>
              <a:t>MultiPV</a:t>
            </a:r>
            <a:r>
              <a:rPr lang="tr-TR" sz="1600" b="1" dirty="0"/>
              <a:t> (Çoklu Alternatif Rota):</a:t>
            </a:r>
            <a:r>
              <a:rPr lang="tr-TR" sz="1600" dirty="0"/>
              <a:t> Hız düşüşüne rağmen </a:t>
            </a:r>
            <a:r>
              <a:rPr lang="tr-TR" sz="1600" dirty="0" err="1"/>
              <a:t>MultiPV</a:t>
            </a:r>
            <a:r>
              <a:rPr lang="tr-TR" sz="1600" dirty="0"/>
              <a:t>=3 yapılandırmasıyla, bağlantı kopmalarına karşı cihazın aynı anda 3 farklı yedek rota üretmesi sağlandı.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8479" y="3544951"/>
            <a:ext cx="5143500" cy="1076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pc="-140" dirty="0"/>
              <a:t>Çevre</a:t>
            </a:r>
            <a:r>
              <a:rPr spc="-300" dirty="0"/>
              <a:t> </a:t>
            </a:r>
            <a:r>
              <a:rPr spc="-105" dirty="0"/>
              <a:t>Simülasyonu</a:t>
            </a:r>
            <a:r>
              <a:rPr spc="-295" dirty="0"/>
              <a:t> </a:t>
            </a:r>
            <a:r>
              <a:rPr spc="-120" dirty="0"/>
              <a:t>ve </a:t>
            </a:r>
            <a:r>
              <a:rPr spc="-135" dirty="0"/>
              <a:t>Özel</a:t>
            </a:r>
            <a:r>
              <a:rPr spc="-330" dirty="0"/>
              <a:t> </a:t>
            </a:r>
            <a:r>
              <a:rPr spc="-70" dirty="0"/>
              <a:t>Kurallar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017" y="1046642"/>
            <a:ext cx="4725522" cy="481440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8768" y="2052954"/>
            <a:ext cx="3765550" cy="37055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lvl="0"/>
            <a:r>
              <a:rPr lang="tr-TR" sz="1600" b="1" dirty="0"/>
              <a:t>Hibrit Düğüm (Asimetrik Sensör):</a:t>
            </a:r>
            <a:r>
              <a:rPr lang="tr-TR" sz="1600" dirty="0"/>
              <a:t> variants.ini dosyasıyla sisteme çok yönlü (hem At hem Fil hareketine sahip) mobil veri toplayıcılar eklendi. Motor bu mobil birimi en verimli merkeze konumlandırmaya zorlandı. </a:t>
            </a:r>
          </a:p>
          <a:p>
            <a:pPr lvl="0"/>
            <a:r>
              <a:rPr lang="tr-TR" sz="1600" b="1" dirty="0" err="1"/>
              <a:t>Subprocess</a:t>
            </a:r>
            <a:r>
              <a:rPr lang="tr-TR" sz="1600" b="1" dirty="0"/>
              <a:t> (Alt İşlem - Paralel Çalıştırma):</a:t>
            </a:r>
            <a:r>
              <a:rPr lang="tr-TR" sz="1600" dirty="0"/>
              <a:t> İki farklı motor, Python üzerinde eşzamanlı ve birbirinden bağımsız olarak ayağa kaldırıldı. </a:t>
            </a:r>
          </a:p>
          <a:p>
            <a:pPr lvl="0"/>
            <a:r>
              <a:rPr lang="tr-TR" sz="1600" b="1" dirty="0"/>
              <a:t>Otonom Veri İletimi:</a:t>
            </a:r>
            <a:r>
              <a:rPr lang="tr-TR" sz="1600" dirty="0"/>
              <a:t> Birinci motorun bulduğu rota, tıpkı bir UART (Seri İletişim Protokolü) hattından donanımsal olarak aktarılan veri paketi gibi ikinci motora iletildi ve otonom döngü kanıtlandı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D4B26E-4864-F9E0-4D2E-557E03888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C1FE836-47DA-F68A-C1FB-9D344C12EA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8768" y="395294"/>
            <a:ext cx="3634740" cy="1545936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535"/>
              </a:spcBef>
            </a:pPr>
            <a:r>
              <a:rPr lang="tr-TR" dirty="0"/>
              <a:t>Bulut Mimarisi ve </a:t>
            </a:r>
            <a:r>
              <a:rPr lang="tr-TR" dirty="0" err="1"/>
              <a:t>Mikroservis</a:t>
            </a:r>
            <a:r>
              <a:rPr lang="tr-TR" dirty="0"/>
              <a:t> Entegrasyonu</a:t>
            </a:r>
            <a:endParaRPr spc="-7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2EC3375-296F-C330-2C16-4D570EF582E6}"/>
              </a:ext>
            </a:extLst>
          </p:cNvPr>
          <p:cNvSpPr txBox="1"/>
          <p:nvPr/>
        </p:nvSpPr>
        <p:spPr>
          <a:xfrm>
            <a:off x="918768" y="2052954"/>
            <a:ext cx="3765550" cy="272061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tr-TR" sz="1600" b="1" dirty="0"/>
              <a:t>REST API:</a:t>
            </a:r>
            <a:r>
              <a:rPr lang="tr-TR" sz="1600" dirty="0"/>
              <a:t> Sistemlerin internet üzerinden birbirleriyle veri (JSON) alışverişi yapmasını sağlayan haberleşme köprüsü.</a:t>
            </a:r>
          </a:p>
          <a:p>
            <a:r>
              <a:rPr lang="tr-TR" sz="1600" b="1" dirty="0" err="1"/>
              <a:t>Render</a:t>
            </a:r>
            <a:r>
              <a:rPr lang="tr-TR" sz="1600" b="1" dirty="0"/>
              <a:t> (Bulut Servisi):</a:t>
            </a:r>
            <a:r>
              <a:rPr lang="tr-TR" sz="1600" dirty="0"/>
              <a:t> Arka plandaki ağır karar motorunun (C++) 7/24 hesaplama yaptığı ana sunucu.</a:t>
            </a:r>
          </a:p>
          <a:p>
            <a:r>
              <a:rPr lang="tr-TR" sz="1600" b="1" dirty="0" err="1"/>
              <a:t>Frontend</a:t>
            </a:r>
            <a:r>
              <a:rPr lang="tr-TR" sz="1600" b="1" dirty="0"/>
              <a:t>:</a:t>
            </a:r>
            <a:r>
              <a:rPr lang="tr-TR" sz="1600" dirty="0"/>
              <a:t> Kullanıcının etkileşime girdiği görsel vitrin (web kontrol paneli).</a:t>
            </a:r>
          </a:p>
          <a:p>
            <a:r>
              <a:rPr lang="tr-TR" sz="1600" b="1" dirty="0" err="1"/>
              <a:t>Vercel</a:t>
            </a:r>
            <a:r>
              <a:rPr lang="tr-TR" sz="1600" b="1" dirty="0"/>
              <a:t>:</a:t>
            </a:r>
            <a:r>
              <a:rPr lang="tr-TR" sz="1600" dirty="0"/>
              <a:t> </a:t>
            </a:r>
            <a:r>
              <a:rPr lang="tr-TR" sz="1600" dirty="0" err="1"/>
              <a:t>Frontend</a:t>
            </a:r>
            <a:r>
              <a:rPr lang="tr-TR" sz="1600" dirty="0"/>
              <a:t> arayüzünü internete açarak canlıya aldığımız barındırma platformu.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75944D7C-0063-119B-1599-974A78937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1595238"/>
            <a:ext cx="6721728" cy="356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31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5278B3-DEE0-0D5E-0A18-4CBAE8007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F288A8B-49BD-07F5-BC3E-AB790A6983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marR="5080" algn="l" rtl="0">
              <a:lnSpc>
                <a:spcPct val="90000"/>
              </a:lnSpc>
              <a:spcBef>
                <a:spcPct val="0"/>
              </a:spcBef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Dinamik Topoloji ve Görsel Simülasyon</a:t>
            </a:r>
            <a:endParaRPr lang="en-US" kern="1200" spc="-7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8097A76-4499-D3F0-BFE3-20B5D2A79D93}"/>
              </a:ext>
            </a:extLst>
          </p:cNvPr>
          <p:cNvSpPr txBox="1"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rtl="0"/>
            <a:r>
              <a:rPr lang="tr-TR" sz="1400" b="1" dirty="0"/>
              <a:t>Dinamik WSN Haritası:</a:t>
            </a:r>
            <a:r>
              <a:rPr lang="tr-TR" sz="1400" dirty="0"/>
              <a:t> Sensör ağının konumlarının (FEN diziliminin) anlık olarak çözümlenip arayüze çizildiği görsel harita.</a:t>
            </a:r>
          </a:p>
          <a:p>
            <a:pPr rtl="0"/>
            <a:br>
              <a:rPr lang="tr-TR" sz="1400" dirty="0"/>
            </a:br>
            <a:endParaRPr lang="tr-TR" sz="1400" dirty="0"/>
          </a:p>
          <a:p>
            <a:pPr rtl="0"/>
            <a:r>
              <a:rPr lang="tr-TR" sz="1400" b="1" dirty="0"/>
              <a:t>FEN Dizilimi:</a:t>
            </a:r>
            <a:r>
              <a:rPr lang="tr-TR" sz="1400" dirty="0"/>
              <a:t> Ağdaki cihazların sahadaki başlangıç koordinatlarını tek bir satırda tutan şifreleme formatı.</a:t>
            </a:r>
          </a:p>
          <a:p>
            <a:pPr rtl="0"/>
            <a:br>
              <a:rPr lang="tr-TR" sz="1400" dirty="0"/>
            </a:br>
            <a:endParaRPr lang="tr-TR" sz="1400" dirty="0"/>
          </a:p>
          <a:p>
            <a:pPr rtl="0"/>
            <a:r>
              <a:rPr lang="tr-TR" sz="1400" b="1" dirty="0"/>
              <a:t>Bulut Tabanlı Otonom Karar:</a:t>
            </a:r>
            <a:r>
              <a:rPr lang="tr-TR" sz="1400" dirty="0"/>
              <a:t> Arayüzün, buluttaki (</a:t>
            </a:r>
            <a:r>
              <a:rPr lang="tr-TR" sz="1400" dirty="0" err="1"/>
              <a:t>Render</a:t>
            </a:r>
            <a:r>
              <a:rPr lang="tr-TR" sz="1400" dirty="0"/>
              <a:t>) motorla haberleşerek insan müdahalesi olmadan saniyeler içinde kendi rotasını hesaplatması.</a:t>
            </a:r>
          </a:p>
          <a:p>
            <a:pPr rtl="0"/>
            <a:br>
              <a:rPr lang="tr-TR" sz="1400" dirty="0"/>
            </a:br>
            <a:endParaRPr lang="tr-TR" sz="1400" dirty="0"/>
          </a:p>
          <a:p>
            <a:pPr rtl="0"/>
            <a:r>
              <a:rPr lang="tr-TR" sz="1400" b="1" dirty="0" err="1"/>
              <a:t>Bestmove</a:t>
            </a:r>
            <a:r>
              <a:rPr lang="tr-TR" sz="1400" b="1" dirty="0"/>
              <a:t>:</a:t>
            </a:r>
            <a:r>
              <a:rPr lang="tr-TR" sz="1400" dirty="0"/>
              <a:t> Karar motorunun ürettiği en verimli ve güvenli optimum iletim rotası.</a:t>
            </a:r>
          </a:p>
          <a:p>
            <a:pPr rtl="0"/>
            <a:br>
              <a:rPr lang="tr-TR" sz="1400" dirty="0"/>
            </a:br>
            <a:endParaRPr lang="tr-TR" sz="1400" dirty="0"/>
          </a:p>
          <a:p>
            <a:pPr rtl="0"/>
            <a:r>
              <a:rPr lang="tr-TR" sz="1400" b="1" dirty="0"/>
              <a:t>CP Filtreleme (Canlı Veri Ayıklama):</a:t>
            </a:r>
            <a:r>
              <a:rPr lang="tr-TR" sz="1400" dirty="0"/>
              <a:t> Motordan dönen bağlantı kalite skorunun (CP), senin belirlediğin güvenlik sınırıyla test edilmesi ve zayıf sinyalli rotaların otonom olarak reddedilmesi.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BF72BF5-CF73-6035-E9D7-B540FD09F7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672" y="1772425"/>
            <a:ext cx="6389346" cy="332246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1282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190C51-5538-A615-DFC5-F81F58CB9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245C7FD-4DCA-CC55-4C80-D8BA3A9F1F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8768" y="395294"/>
            <a:ext cx="3634740" cy="1545936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535"/>
              </a:spcBef>
            </a:pPr>
            <a:r>
              <a:rPr lang="tr-TR" dirty="0" err="1"/>
              <a:t>Betza</a:t>
            </a:r>
            <a:r>
              <a:rPr lang="tr-TR" dirty="0"/>
              <a:t> Notasyonu ile Fiziksel Kısıtların Modellenmesi</a:t>
            </a:r>
            <a:endParaRPr spc="-7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D9B8E37-D2AF-1EC6-E5D9-C775BA6E54B3}"/>
              </a:ext>
            </a:extLst>
          </p:cNvPr>
          <p:cNvSpPr txBox="1"/>
          <p:nvPr/>
        </p:nvSpPr>
        <p:spPr>
          <a:xfrm>
            <a:off x="918768" y="2052955"/>
            <a:ext cx="4948632" cy="41979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rtl="0"/>
            <a:r>
              <a:rPr lang="tr-TR" sz="1600" b="1" dirty="0" err="1"/>
              <a:t>Betza</a:t>
            </a:r>
            <a:r>
              <a:rPr lang="tr-TR" sz="1600" b="1" dirty="0"/>
              <a:t> Hareket Vektörleri:</a:t>
            </a:r>
            <a:r>
              <a:rPr lang="tr-TR" sz="1600" dirty="0"/>
              <a:t> Tarihteki asimetrik oyun kurallarını (Timur Satrancı vb.), modern WSN donanımlarının fiziksel kısıtlarına çevirmemizi sağlayan matematiksel formül dilidir.</a:t>
            </a:r>
          </a:p>
          <a:p>
            <a:pPr rtl="0"/>
            <a:r>
              <a:rPr lang="tr-TR" sz="1600" b="1" dirty="0"/>
              <a:t>Koordinat Matrisinin Genişletilmesi:</a:t>
            </a:r>
            <a:r>
              <a:rPr lang="tr-TR" sz="1600" dirty="0"/>
              <a:t> Klasik 8x8 kısıtları aşılarak, sistemin tıpkı devasa tarihi tahtalarda olduğu gibi 10x10 ve üzeri makro sensör ağlarında çalışması sağlandı.</a:t>
            </a:r>
          </a:p>
          <a:p>
            <a:pPr rtl="0"/>
            <a:r>
              <a:rPr lang="tr-TR" sz="1600" b="1" dirty="0"/>
              <a:t>İletişim Menzili Kısıtı:</a:t>
            </a:r>
            <a:r>
              <a:rPr lang="tr-TR" sz="1600" dirty="0"/>
              <a:t> Tarihi taşların kısıtlı hareket kabiliyetlerinden esinlenerek, düşük enerjili sensörlerin kısa mesafeli veri iletim sınırları (anten kapasiteleri) modellendi.</a:t>
            </a:r>
          </a:p>
          <a:p>
            <a:pPr rtl="0"/>
            <a:r>
              <a:rPr lang="tr-TR" sz="1600" b="1" dirty="0" err="1"/>
              <a:t>Leaper</a:t>
            </a:r>
            <a:r>
              <a:rPr lang="tr-TR" sz="1600" b="1" dirty="0"/>
              <a:t> (Atlayıcı Düğümler):</a:t>
            </a:r>
            <a:r>
              <a:rPr lang="tr-TR" sz="1600" dirty="0"/>
              <a:t> Timur </a:t>
            </a:r>
            <a:r>
              <a:rPr lang="tr-TR" sz="1600" dirty="0" err="1"/>
              <a:t>Satrancı'ndaki</a:t>
            </a:r>
            <a:r>
              <a:rPr lang="tr-TR" sz="1600" dirty="0"/>
              <a:t> "Mancınık" veya "Deve" gibi taşların engel aşma kuralı, </a:t>
            </a:r>
            <a:r>
              <a:rPr lang="tr-TR" sz="1600" dirty="0" err="1"/>
              <a:t>WSN'de</a:t>
            </a:r>
            <a:r>
              <a:rPr lang="tr-TR" sz="1600" dirty="0"/>
              <a:t> dağ ve bina gibi fiziksel engellerin üzerinden sıçrayarak veri aktaran özel röle düğümlerine uyarlandı.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D7DA85B0-0F6D-039D-4323-4F0DCCBF1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2" y="914400"/>
            <a:ext cx="5220378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63398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 Güncellemeleri ve Yeni Mimari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Genişletilmiş Ağ Desteği: 10x10 WSN ızgaralarını desteklemek için Fairy-Stockfish Largeboard entegrasyonu sağlandı.</a:t>
            </a:r>
          </a:p>
          <a:p>
            <a:pPr/>
            <a:r>
              <a:t>Sunucusuz (Serverless) Altyapı: Backend Vercel Serverless üzerine taşınarak soğuk başlama (cold start) süresi ve yanıt gecikmesi minimuma indirildi.</a:t>
            </a:r>
          </a:p>
          <a:p>
            <a:pPr/>
            <a:r>
              <a:t>Dinamik Varyant Yönetimi: Ağ topolojisi, özel kurallar ve boyutlar variants.ini dosyasından anlık olarak parse edilerek sisteme tanıtıldı.</a:t>
            </a:r>
          </a:p>
          <a:p>
            <a:pPr/>
            <a:r>
              <a:t>Çift Sunucu Yedekliliği (Fallback): Vercel ve Render uç noktaları aynı anda kullanılarak kesintisiz API iletişimi sağlandı.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Arayüz (UI) ve Görselleştirme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Dinamik WSN Izgarası: FEN dizilimine göre düğümlerin (sensörlerin) otomatik konumlandırıldığı modern görsel arayüz.</a:t>
            </a:r>
          </a:p>
          <a:p>
            <a:pPr/>
            <a:r>
              <a:t>Karar Filtreleme Paneli: Gelen CP skorlarının belirli eşik değerleriyle (threshold) test edildiği otonom karar onayı/reddi sistemi.</a:t>
            </a:r>
          </a:p>
          <a:p>
            <a:pPr/>
            <a:r>
              <a:t>Çoklu Dil (i18n): Sistem arayüzünün Türkçe ve İngilizce olarak dinamik JSON dosyalarıyla yönetilmesi.</a:t>
            </a:r>
          </a:p>
          <a:p>
            <a:pPr/>
            <a:r>
              <a:t>Hata Yönetimi: Ağ kopmalarına karşı zaman aşımı (timeout) kontrolü ve kullanıcıya anlık bildirim sistemi.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854</TotalTime>
  <Words>1001</Words>
  <Application>Microsoft Office PowerPoint</Application>
  <PresentationFormat>Geniş ekran</PresentationFormat>
  <Paragraphs>112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5" baseType="lpstr">
      <vt:lpstr>Calibri</vt:lpstr>
      <vt:lpstr>Times New Roman</vt:lpstr>
      <vt:lpstr>Trebuchet MS</vt:lpstr>
      <vt:lpstr>Office Theme</vt:lpstr>
      <vt:lpstr>STOCKFISH VE FAİRY-STOCKFİSH</vt:lpstr>
      <vt:lpstr>Stockfish ve kavramları</vt:lpstr>
      <vt:lpstr>Stockfish çalışma mantığı , karar verme mekanizmaları.</vt:lpstr>
      <vt:lpstr>FAIRY-STOCKFİSH</vt:lpstr>
      <vt:lpstr>BEN NELER YAPTIM ?</vt:lpstr>
      <vt:lpstr>Veri Filtreleme ve Durum Değerlendirmesi</vt:lpstr>
      <vt:lpstr>Donanım Kısıtları ve Stres Testi</vt:lpstr>
      <vt:lpstr>Çevre Simülasyonu ve Özel Kurallar</vt:lpstr>
      <vt:lpstr>Bulut Mimarisi ve Mikroservis Entegrasyonu</vt:lpstr>
      <vt:lpstr>Dinamik Topoloji ve Görsel Simülasyon</vt:lpstr>
      <vt:lpstr>Betza Notasyonu ile Fiziksel Kısıtların Modellenmesi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MEHMETSEVKET AKBULUT</dc:creator>
  <cp:lastModifiedBy>MEHMETSEVKET AKBULUT</cp:lastModifiedBy>
  <cp:revision>5</cp:revision>
  <dcterms:created xsi:type="dcterms:W3CDTF">2026-09-04T08:57:48Z</dcterms:created>
  <dcterms:modified xsi:type="dcterms:W3CDTF">2026-09-06T21:06:45Z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2026-08-28T00:00:00Z</vt:filetime>
  </property>
  <property fmtid="{D5CDD505-2E9C-101B-9397-08002B2CF9AE}" pid="4" name="Creator">
    <vt:lpwstr>Microsoft® PowerPoint® Microsoft 365 için</vt:lpwstr>
  </property>
  <property fmtid="{D5CDD505-2E9C-101B-9397-08002B2CF9AE}" pid="5" name="LastSaved">
    <vt:filetime>2026-09-04T00:00:00Z</vt:filetime>
  </property>
  <property fmtid="{D5CDD505-2E9C-101B-9397-08002B2CF9AE}" pid="6" name="Producer">
    <vt:lpwstr>Microsoft® PowerPoint® Microsoft 365 için</vt:lpwstr>
  </property>
</Properties>
</file>